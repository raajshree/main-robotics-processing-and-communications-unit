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3"/>
  </p:sldMasterIdLst>
  <p:notesMasterIdLst>
    <p:notesMasterId r:id="rId16"/>
  </p:notesMasterIdLst>
  <p:sldIdLst>
    <p:sldId id="257" r:id="rId4"/>
    <p:sldId id="258" r:id="rId5"/>
    <p:sldId id="259" r:id="rId6"/>
    <p:sldId id="260" r:id="rId7"/>
    <p:sldId id="261" r:id="rId8"/>
    <p:sldId id="264" r:id="rId9"/>
    <p:sldId id="263" r:id="rId10"/>
    <p:sldId id="269" r:id="rId11"/>
    <p:sldId id="266" r:id="rId12"/>
    <p:sldId id="262" r:id="rId13"/>
    <p:sldId id="265" r:id="rId14"/>
    <p:sldId id="270" r:id="rId15"/>
  </p:sldIdLst>
  <p:sldSz cx="10969625" cy="6170613"/>
  <p:notesSz cx="6858000" cy="9144000"/>
  <p:custDataLst>
    <p:tags r:id="rId17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1pPr>
    <a:lvl2pPr marL="41113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2pPr>
    <a:lvl3pPr marL="8222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3pPr>
    <a:lvl4pPr marL="1233411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4pPr>
    <a:lvl5pPr marL="164454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5pPr>
    <a:lvl6pPr marL="2055686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6pPr>
    <a:lvl7pPr marL="2466823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7pPr>
    <a:lvl8pPr marL="2877960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8pPr>
    <a:lvl9pPr marL="3289097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DC28D9-9B68-A95A-7DF6-018968DEAE03}" v="77" dt="2025-11-30T21:16:01.397"/>
    <p1510:client id="{FF86ED5F-8ADF-B10A-AA20-82012A58968C}" v="3" dt="2025-12-01T06:26:23.3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7911F-CEAF-4F0B-98BD-EFB38C6572AA}" type="datetimeFigureOut">
              <a:rPr lang="de-DE" smtClean="0"/>
              <a:t>01.12.2025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2D48B2-9EB0-4B37-9B35-FC11E2EA535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3153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BF558F48-F6D6-4568-8DA6-55FAE81CC26F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7200" y="2602898"/>
            <a:ext cx="9268637" cy="1507549"/>
          </a:xfrm>
          <a:ln w="0">
            <a:noFill/>
          </a:ln>
          <a:effectLst/>
        </p:spPr>
        <p:txBody>
          <a:bodyPr anchor="b" anchorCtr="0">
            <a:normAutofit/>
          </a:bodyPr>
          <a:lstStyle>
            <a:lvl1pPr algn="l">
              <a:lnSpc>
                <a:spcPct val="100000"/>
              </a:lnSpc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Presentation 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7B0DFCC-F037-4745-849A-E2902A32AC76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547200" y="4241130"/>
            <a:ext cx="9268637" cy="125436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noProof="1"/>
              <a:t>Name, Department, Date</a:t>
            </a:r>
          </a:p>
        </p:txBody>
      </p:sp>
      <p:pic>
        <p:nvPicPr>
          <p:cNvPr id="4" name="SuperGraphic">
            <a:extLst>
              <a:ext uri="{FF2B5EF4-FFF2-40B4-BE49-F238E27FC236}">
                <a16:creationId xmlns:a16="http://schemas.microsoft.com/office/drawing/2014/main" id="{862C2846-F73C-4F37-B810-57D2567D11EB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0969200" cy="2056725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EB4CC976-E504-9F9B-AAA8-4B8F85DDABEF}"/>
              </a:ext>
            </a:extLst>
          </p:cNvPr>
          <p:cNvSpPr txBox="1"/>
          <p:nvPr userDrawn="1"/>
        </p:nvSpPr>
        <p:spPr>
          <a:xfrm>
            <a:off x="547200" y="5688000"/>
            <a:ext cx="9126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Internal C-SC1</a:t>
            </a:r>
            <a:endParaRPr lang="en-US" sz="600" kern="0" baseline="0" noProof="1">
              <a:solidFill>
                <a:schemeClr val="tx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4984853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2" userDrawn="1">
          <p15:clr>
            <a:srgbClr val="FBAE40"/>
          </p15:clr>
        </p15:guide>
        <p15:guide id="2" pos="6185" userDrawn="1">
          <p15:clr>
            <a:srgbClr val="FBAE40"/>
          </p15:clr>
        </p15:guide>
        <p15:guide id="3" orient="horz" pos="1639" userDrawn="1">
          <p15:clr>
            <a:srgbClr val="FBAE40"/>
          </p15:clr>
        </p15:guide>
        <p15:guide id="4" orient="horz" pos="2590" userDrawn="1">
          <p15:clr>
            <a:srgbClr val="FBAE40"/>
          </p15:clr>
        </p15:guide>
        <p15:guide id="5" orient="horz" pos="2669" userDrawn="1">
          <p15:clr>
            <a:srgbClr val="FBAE40"/>
          </p15:clr>
        </p15:guide>
        <p15:guide id="6" orient="horz" pos="346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43858496-C239-47F8-BDF4-1C95D89182D0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89593" y="1152144"/>
            <a:ext cx="7132831" cy="2044365"/>
          </a:xfrm>
          <a:ln w="0">
            <a:noFill/>
          </a:ln>
          <a:effectLst/>
        </p:spPr>
        <p:txBody>
          <a:bodyPr anchor="b" anchorCtr="0">
            <a:normAutofit/>
          </a:bodyPr>
          <a:lstStyle>
            <a:lvl1pPr algn="l">
              <a:lnSpc>
                <a:spcPct val="100000"/>
              </a:lnSpc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Presentation title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5C2B86F-C1CA-4E64-9221-A99B4E89D289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3289593" y="3327191"/>
            <a:ext cx="7132831" cy="125436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noProof="1"/>
              <a:t>Name, Department, Date</a:t>
            </a:r>
          </a:p>
        </p:txBody>
      </p:sp>
      <p:pic>
        <p:nvPicPr>
          <p:cNvPr id="3" name="SuperGraphic">
            <a:extLst>
              <a:ext uri="{FF2B5EF4-FFF2-40B4-BE49-F238E27FC236}">
                <a16:creationId xmlns:a16="http://schemas.microsoft.com/office/drawing/2014/main" id="{8E3B306C-041F-4487-8C98-1BF9B6BE172F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742494" cy="6170613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37724B12-9637-FD34-B3B0-53E9BF1D1434}"/>
              </a:ext>
            </a:extLst>
          </p:cNvPr>
          <p:cNvSpPr txBox="1"/>
          <p:nvPr userDrawn="1"/>
        </p:nvSpPr>
        <p:spPr>
          <a:xfrm>
            <a:off x="3279600" y="5688000"/>
            <a:ext cx="6354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Internal C-SC1</a:t>
            </a:r>
            <a:endParaRPr lang="en-US" sz="600" kern="0" baseline="0" noProof="1">
              <a:solidFill>
                <a:schemeClr val="tx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2193031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070" userDrawn="1">
          <p15:clr>
            <a:srgbClr val="FBAE40"/>
          </p15:clr>
        </p15:guide>
        <p15:guide id="2" pos="6566" userDrawn="1">
          <p15:clr>
            <a:srgbClr val="FBAE40"/>
          </p15:clr>
        </p15:guide>
        <p15:guide id="3" orient="horz" pos="2093" userDrawn="1">
          <p15:clr>
            <a:srgbClr val="FBAE40"/>
          </p15:clr>
        </p15:guide>
        <p15:guide id="4" orient="horz" pos="2014" userDrawn="1">
          <p15:clr>
            <a:srgbClr val="FBAE40"/>
          </p15:clr>
        </p15:guide>
        <p15:guide id="5" orient="horz" pos="347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E881C9CD-D10B-4CDB-B44D-3FBD5D07A516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7200" y="2602896"/>
            <a:ext cx="9268637" cy="2892602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Chapter title</a:t>
            </a:r>
          </a:p>
        </p:txBody>
      </p:sp>
      <p:sp>
        <p:nvSpPr>
          <p:cNvPr id="3" name="RectangleCol">
            <a:extLst>
              <a:ext uri="{FF2B5EF4-FFF2-40B4-BE49-F238E27FC236}">
                <a16:creationId xmlns:a16="http://schemas.microsoft.com/office/drawing/2014/main" id="{5DD958C9-7251-4FEC-9785-C1A6CE9F6847}"/>
              </a:ext>
            </a:extLst>
          </p:cNvPr>
          <p:cNvSpPr>
            <a:spLocks noSelect="1" noChangeAspect="1"/>
          </p:cNvSpPr>
          <p:nvPr userDrawn="1"/>
        </p:nvSpPr>
        <p:spPr>
          <a:xfrm>
            <a:off x="0" y="99"/>
            <a:ext cx="10969625" cy="2055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AE105-4DC3-4775-A78C-B758C32ACF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5781" y="98"/>
            <a:ext cx="2207942" cy="2055600"/>
          </a:xfrm>
        </p:spPr>
        <p:txBody>
          <a:bodyPr bIns="72000" anchor="ctr"/>
          <a:lstStyle>
            <a:lvl1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5000" b="1" kern="0" baseline="0">
                <a:solidFill>
                  <a:schemeClr val="bg1"/>
                </a:solidFill>
              </a:defRPr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DB38986C-DCE5-D964-B0BA-9AB589C96711}"/>
              </a:ext>
            </a:extLst>
          </p:cNvPr>
          <p:cNvSpPr txBox="1"/>
          <p:nvPr userDrawn="1"/>
        </p:nvSpPr>
        <p:spPr>
          <a:xfrm>
            <a:off x="547200" y="5688000"/>
            <a:ext cx="9126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Internal C-SC1</a:t>
            </a:r>
            <a:endParaRPr lang="en-US" sz="600" kern="0" baseline="0" noProof="1">
              <a:solidFill>
                <a:schemeClr val="tx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2880939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2" userDrawn="1">
          <p15:clr>
            <a:srgbClr val="FBAE40"/>
          </p15:clr>
        </p15:guide>
        <p15:guide id="2" pos="6185" userDrawn="1">
          <p15:clr>
            <a:srgbClr val="FBAE40"/>
          </p15:clr>
        </p15:guide>
        <p15:guide id="3" orient="horz" pos="1639" userDrawn="1">
          <p15:clr>
            <a:srgbClr val="FBAE40"/>
          </p15:clr>
        </p15:guide>
        <p15:guide id="4" orient="horz" pos="3463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>
            <a:extLst>
              <a:ext uri="{FF2B5EF4-FFF2-40B4-BE49-F238E27FC236}">
                <a16:creationId xmlns:a16="http://schemas.microsoft.com/office/drawing/2014/main" id="{E5083679-3829-4F0B-9E1A-B4E6F314AFD2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79831" y="1200075"/>
            <a:ext cx="7072741" cy="3142785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Chapter title</a:t>
            </a:r>
          </a:p>
        </p:txBody>
      </p:sp>
      <p:sp>
        <p:nvSpPr>
          <p:cNvPr id="3" name="RectangleCol">
            <a:extLst>
              <a:ext uri="{FF2B5EF4-FFF2-40B4-BE49-F238E27FC236}">
                <a16:creationId xmlns:a16="http://schemas.microsoft.com/office/drawing/2014/main" id="{5DD958C9-7251-4FEC-9785-C1A6CE9F6847}"/>
              </a:ext>
            </a:extLst>
          </p:cNvPr>
          <p:cNvSpPr>
            <a:spLocks noSelect="1" noChangeAspect="1"/>
          </p:cNvSpPr>
          <p:nvPr userDrawn="1"/>
        </p:nvSpPr>
        <p:spPr>
          <a:xfrm>
            <a:off x="-1" y="99"/>
            <a:ext cx="2739600" cy="6170514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AE105-4DC3-4775-A78C-B758C32ACF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4400" y="99"/>
            <a:ext cx="2207942" cy="2055600"/>
          </a:xfrm>
        </p:spPr>
        <p:txBody>
          <a:bodyPr bIns="72000" anchor="ctr"/>
          <a:lstStyle>
            <a:lvl1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5000" b="1" kern="0" baseline="0">
                <a:solidFill>
                  <a:schemeClr val="bg1"/>
                </a:solidFill>
              </a:defRPr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pic>
        <p:nvPicPr>
          <p:cNvPr id="5" name="SuperGraphic">
            <a:extLst>
              <a:ext uri="{FF2B5EF4-FFF2-40B4-BE49-F238E27FC236}">
                <a16:creationId xmlns:a16="http://schemas.microsoft.com/office/drawing/2014/main" id="{B93399BE-B0B2-44B3-8FAE-18A968B3CDA4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9615C293-AF3D-B45D-E4FB-BC09FDE03C19}"/>
              </a:ext>
            </a:extLst>
          </p:cNvPr>
          <p:cNvSpPr txBox="1"/>
          <p:nvPr userDrawn="1"/>
        </p:nvSpPr>
        <p:spPr>
          <a:xfrm>
            <a:off x="3279600" y="5688000"/>
            <a:ext cx="6354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Internal C-SC1</a:t>
            </a:r>
            <a:endParaRPr lang="en-US" sz="600" kern="0" baseline="0" noProof="1">
              <a:solidFill>
                <a:schemeClr val="tx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3308143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064" userDrawn="1">
          <p15:clr>
            <a:srgbClr val="FBAE40"/>
          </p15:clr>
        </p15:guide>
        <p15:guide id="2" pos="6524" userDrawn="1">
          <p15:clr>
            <a:srgbClr val="FBAE40"/>
          </p15:clr>
        </p15:guide>
        <p15:guide id="3" orient="horz" pos="754" userDrawn="1">
          <p15:clr>
            <a:srgbClr val="FBAE40"/>
          </p15:clr>
        </p15:guide>
        <p15:guide id="4" orient="horz" pos="2738" userDrawn="1">
          <p15:clr>
            <a:srgbClr val="FBAE40"/>
          </p15:clr>
        </p15:guide>
        <p15:guide id="5" pos="2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 without tex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926F8EF2-FFD9-4D48-A076-77C0B811BAB0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55368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</p:spTree>
    <p:extLst>
      <p:ext uri="{BB962C8B-B14F-4D97-AF65-F5344CB8AC3E}">
        <p14:creationId xmlns:p14="http://schemas.microsoft.com/office/powerpoint/2010/main" val="76580094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48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 with tex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B77066FA-8AE8-47E2-8A79-1355389EE47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E3AE72B7-66D7-4755-9A92-9BAA3A80886F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55368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46B548-69AA-497B-BD64-E14E4F9EA5F6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406800" y="1036800"/>
            <a:ext cx="3780000" cy="2484000"/>
          </a:xfrm>
          <a:solidFill>
            <a:schemeClr val="bg1"/>
          </a:solidFill>
        </p:spPr>
        <p:txBody>
          <a:bodyPr lIns="252000" tIns="216000" rIns="252000" bIns="21600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76489657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48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ogo">
            <a:extLst>
              <a:ext uri="{FF2B5EF4-FFF2-40B4-BE49-F238E27FC236}">
                <a16:creationId xmlns:a16="http://schemas.microsoft.com/office/drawing/2014/main" id="{1630DC1C-C3C8-477E-AC19-4DC706EB4992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30852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90CB4FC-C276-4DB5-A6E3-49DD9BC66B63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205199" y="3495705"/>
            <a:ext cx="10558800" cy="2041094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83206144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949" userDrawn="1">
          <p15:clr>
            <a:srgbClr val="FBAE40"/>
          </p15:clr>
        </p15:guide>
        <p15:guide id="4" orient="horz" pos="3489" userDrawn="1">
          <p15:clr>
            <a:srgbClr val="FBAE40"/>
          </p15:clr>
        </p15:guide>
        <p15:guide id="5" orient="horz" pos="220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>
            <a:extLst>
              <a:ext uri="{FF2B5EF4-FFF2-40B4-BE49-F238E27FC236}">
                <a16:creationId xmlns:a16="http://schemas.microsoft.com/office/drawing/2014/main" id="{FD4E5E48-387B-4CE0-80BE-1097F697DAD5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5486400" cy="6170400"/>
          </a:xfrm>
          <a:blipFill dpi="0" rotWithShape="1">
            <a:blip r:embed="rId3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6647D1E-89E9-4244-B52F-555902731C7A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5895302" y="410492"/>
            <a:ext cx="4596486" cy="5126308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Add Text</a:t>
            </a:r>
          </a:p>
        </p:txBody>
      </p:sp>
      <p:pic>
        <p:nvPicPr>
          <p:cNvPr id="6" name="SuperGraphic">
            <a:extLst>
              <a:ext uri="{FF2B5EF4-FFF2-40B4-BE49-F238E27FC236}">
                <a16:creationId xmlns:a16="http://schemas.microsoft.com/office/drawing/2014/main" id="{2D38AACD-EB97-4B81-ACAA-2074E22BBC0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70059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56" userDrawn="1">
          <p15:clr>
            <a:srgbClr val="FBAE40"/>
          </p15:clr>
        </p15:guide>
        <p15:guide id="2" pos="6609" userDrawn="1">
          <p15:clr>
            <a:srgbClr val="FBAE40"/>
          </p15:clr>
        </p15:guide>
        <p15:guide id="3" orient="horz" pos="257" userDrawn="1">
          <p15:clr>
            <a:srgbClr val="FBAE40"/>
          </p15:clr>
        </p15:guide>
        <p15:guide id="4" orient="horz" pos="3489" userDrawn="1">
          <p15:clr>
            <a:srgbClr val="FBAE40"/>
          </p15:clr>
        </p15:guide>
        <p15:guide id="5" pos="3713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 logo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-1"/>
            <a:ext cx="10969625" cy="6102967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6" name="Logo">
            <a:extLst>
              <a:ext uri="{FF2B5EF4-FFF2-40B4-BE49-F238E27FC236}">
                <a16:creationId xmlns:a16="http://schemas.microsoft.com/office/drawing/2014/main" id="{0C8D7868-566A-E406-AA76-0F7E438D3810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672212" y="5561282"/>
            <a:ext cx="1231531" cy="506144"/>
          </a:xfrm>
          <a:blipFill>
            <a:blip r:embed="rId4"/>
            <a:stretch>
              <a:fillRect/>
            </a:stretch>
          </a:blipFill>
        </p:spPr>
        <p:txBody>
          <a:bodyPr anchor="t" anchorCtr="0"/>
          <a:lstStyle>
            <a:lvl1pPr marL="0" indent="0" algn="l">
              <a:buFontTx/>
              <a:buNone/>
              <a:defRPr sz="100">
                <a:noFill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 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135774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84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 logo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-1" y="0"/>
            <a:ext cx="10899775" cy="61704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pic>
        <p:nvPicPr>
          <p:cNvPr id="6" name="SuperGraphic">
            <a:extLst>
              <a:ext uri="{FF2B5EF4-FFF2-40B4-BE49-F238E27FC236}">
                <a16:creationId xmlns:a16="http://schemas.microsoft.com/office/drawing/2014/main" id="{2D38AACD-EB97-4B81-ACAA-2074E22BBC0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  <p:sp>
        <p:nvSpPr>
          <p:cNvPr id="2" name="Logo">
            <a:extLst>
              <a:ext uri="{FF2B5EF4-FFF2-40B4-BE49-F238E27FC236}">
                <a16:creationId xmlns:a16="http://schemas.microsoft.com/office/drawing/2014/main" id="{F002D116-88B8-2720-FAAC-860765E59F72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672212" y="5561282"/>
            <a:ext cx="1231531" cy="506144"/>
          </a:xfrm>
          <a:blipFill>
            <a:blip r:embed="rId4"/>
            <a:stretch>
              <a:fillRect/>
            </a:stretch>
          </a:blipFill>
        </p:spPr>
        <p:txBody>
          <a:bodyPr anchor="t" anchorCtr="0"/>
          <a:lstStyle>
            <a:lvl1pPr marL="0" indent="0" algn="l">
              <a:buFontTx/>
              <a:buNone/>
              <a:defRPr sz="100">
                <a:noFill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 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232102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pos="6866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Conten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DE43D273-A15E-4B64-AFD2-1388D749B6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15" name="Chapter_titleonly">
            <a:extLst>
              <a:ext uri="{FF2B5EF4-FFF2-40B4-BE49-F238E27FC236}">
                <a16:creationId xmlns:a16="http://schemas.microsoft.com/office/drawing/2014/main" id="{5B281E01-A653-4813-BC65-8900B31D11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0" name="AttachmentRemark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D46C5CB-CB38-4AD2-99D2-34C738DF30C0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05200" y="1296000"/>
            <a:ext cx="105588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3261F3-E57F-4170-BD7E-F44931BED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897738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E29BFEC5-7639-4AE9-A818-5EB7EC3C9C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E99B80D-00FD-40C8-B929-FA71A2E035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4914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5853600" y="1295999"/>
            <a:ext cx="4914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2" name="AttachmentRemark">
            <a:extLst>
              <a:ext uri="{FF2B5EF4-FFF2-40B4-BE49-F238E27FC236}">
                <a16:creationId xmlns:a16="http://schemas.microsoft.com/office/drawing/2014/main" id="{0193DB20-8E77-4A05-AA77-554F32E8990F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6EE88F-E97F-46A3-8AB7-354C833CF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787601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3225" userDrawn="1">
          <p15:clr>
            <a:srgbClr val="FBAE40"/>
          </p15:clr>
        </p15:guide>
        <p15:guide id="9" pos="368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hapter_titleonly">
            <a:extLst>
              <a:ext uri="{FF2B5EF4-FFF2-40B4-BE49-F238E27FC236}">
                <a16:creationId xmlns:a16="http://schemas.microsoft.com/office/drawing/2014/main" id="{7CCAFAD8-87FF-4E8A-B13E-2709A28399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213B860-B040-4AA5-BCCF-91A137076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3F3E027D-9EE5-4C12-9974-36EA025C350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00600" y="1296000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7596000" y="1295999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3" name="AttachmentRemark">
            <a:extLst>
              <a:ext uri="{FF2B5EF4-FFF2-40B4-BE49-F238E27FC236}">
                <a16:creationId xmlns:a16="http://schemas.microsoft.com/office/drawing/2014/main" id="{79759149-285E-4F0E-938E-7199B34084BE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F85651-AA1F-4EE5-A69C-0361B9A97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005200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2126" userDrawn="1">
          <p15:clr>
            <a:srgbClr val="FBAE40"/>
          </p15:clr>
        </p15:guide>
        <p15:guide id="9" pos="2455" userDrawn="1">
          <p15:clr>
            <a:srgbClr val="FBAE40"/>
          </p15:clr>
        </p15:guide>
        <p15:guide id="10" pos="4453" userDrawn="1">
          <p15:clr>
            <a:srgbClr val="FBAE40"/>
          </p15:clr>
        </p15:guide>
        <p15:guide id="11" pos="478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85E4898A-B45B-416F-8A7F-E57751056E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33F6F31-B924-4EAD-BDA8-332AAD2C41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5399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877600" y="1295400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5550000" y="1295399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8222400" y="1295400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4" name="AttachmentRemark">
            <a:extLst>
              <a:ext uri="{FF2B5EF4-FFF2-40B4-BE49-F238E27FC236}">
                <a16:creationId xmlns:a16="http://schemas.microsoft.com/office/drawing/2014/main" id="{3A9A741C-7644-4810-ABAF-465822FC0D7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68EDC3-D46C-4E18-BC78-B9478A7BD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763114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1731" userDrawn="1">
          <p15:clr>
            <a:srgbClr val="FBAE40"/>
          </p15:clr>
        </p15:guide>
        <p15:guide id="9" pos="1810" userDrawn="1">
          <p15:clr>
            <a:srgbClr val="FBAE40"/>
          </p15:clr>
        </p15:guide>
        <p15:guide id="10" pos="3417" userDrawn="1">
          <p15:clr>
            <a:srgbClr val="FBAE40"/>
          </p15:clr>
        </p15:guide>
        <p15:guide id="11" pos="3495" userDrawn="1">
          <p15:clr>
            <a:srgbClr val="FBAE40"/>
          </p15:clr>
        </p15:guide>
        <p15:guide id="12" pos="5098" userDrawn="1">
          <p15:clr>
            <a:srgbClr val="FBAE40"/>
          </p15:clr>
        </p15:guide>
        <p15:guide id="13" pos="517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Horizont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9398DDFA-1939-498B-8921-7DDB40481F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B79D08E-37B8-49BA-9E18-ED577CD999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105588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105588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2" name="AttachmentRemark">
            <a:extLst>
              <a:ext uri="{FF2B5EF4-FFF2-40B4-BE49-F238E27FC236}">
                <a16:creationId xmlns:a16="http://schemas.microsoft.com/office/drawing/2014/main" id="{2E7C0809-54C2-4B00-97B9-AEB55C54DF3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37342F-2EB7-4EB1-963F-314A664F0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956372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90C8652B-1F43-4467-AC53-668A8D3D47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FDBB36D-E1FF-4336-B805-B8B7F4B25A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5850000" y="1295999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5850000" y="34812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4" name="AttachmentRemark">
            <a:extLst>
              <a:ext uri="{FF2B5EF4-FFF2-40B4-BE49-F238E27FC236}">
                <a16:creationId xmlns:a16="http://schemas.microsoft.com/office/drawing/2014/main" id="{43F0E5D0-784C-433E-AAB0-40D43C1BCBA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5D5130-F453-4F60-9091-CC67A9512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51935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  <p15:guide id="10" pos="3225" userDrawn="1">
          <p15:clr>
            <a:srgbClr val="FBAE40"/>
          </p15:clr>
        </p15:guide>
        <p15:guide id="11" pos="3683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hapter_titleonly">
            <a:extLst>
              <a:ext uri="{FF2B5EF4-FFF2-40B4-BE49-F238E27FC236}">
                <a16:creationId xmlns:a16="http://schemas.microsoft.com/office/drawing/2014/main" id="{FEDBFC76-9F59-4A18-8E8B-EDDF9CC208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226D581-60F4-440B-A410-F6582BC0DC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3900600" y="1295999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5" hasCustomPrompt="1"/>
          </p:nvPr>
        </p:nvSpPr>
        <p:spPr>
          <a:xfrm>
            <a:off x="7596000" y="1295999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sz="half" idx="4" hasCustomPrompt="1"/>
          </p:nvPr>
        </p:nvSpPr>
        <p:spPr>
          <a:xfrm>
            <a:off x="39006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6"/>
          <p:cNvSpPr>
            <a:spLocks noGrp="1"/>
          </p:cNvSpPr>
          <p:nvPr>
            <p:ph sz="half" idx="6" hasCustomPrompt="1"/>
          </p:nvPr>
        </p:nvSpPr>
        <p:spPr>
          <a:xfrm>
            <a:off x="75960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6" name="AttachmentRemark">
            <a:extLst>
              <a:ext uri="{FF2B5EF4-FFF2-40B4-BE49-F238E27FC236}">
                <a16:creationId xmlns:a16="http://schemas.microsoft.com/office/drawing/2014/main" id="{C680F8C7-4715-4E6C-829A-E87F16C03BB3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C4D98D-B6D0-4EAC-B595-B1B3F34F7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482577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2126" userDrawn="1">
          <p15:clr>
            <a:srgbClr val="FBAE40"/>
          </p15:clr>
        </p15:guide>
        <p15:guide id="9" pos="2457" userDrawn="1">
          <p15:clr>
            <a:srgbClr val="FBAE40"/>
          </p15:clr>
        </p15:guide>
        <p15:guide id="10" pos="4453" userDrawn="1">
          <p15:clr>
            <a:srgbClr val="FBAE40"/>
          </p15:clr>
        </p15:guide>
        <p15:guide id="11" pos="4782" userDrawn="1">
          <p15:clr>
            <a:srgbClr val="FBAE40"/>
          </p15:clr>
        </p15:guide>
        <p15:guide id="12" orient="horz" pos="2113" userDrawn="1">
          <p15:clr>
            <a:srgbClr val="FBAE40"/>
          </p15:clr>
        </p15:guide>
        <p15:guide id="13" orient="horz" pos="2192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hapter_titleonly">
            <a:extLst>
              <a:ext uri="{FF2B5EF4-FFF2-40B4-BE49-F238E27FC236}">
                <a16:creationId xmlns:a16="http://schemas.microsoft.com/office/drawing/2014/main" id="{20D581F7-7281-48B4-B67B-7228F84F39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7544615-D17B-4350-B517-7E469AC91A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2877600" y="1295999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8468F8D-277D-4F1A-84A1-62122010643F}"/>
              </a:ext>
            </a:extLst>
          </p:cNvPr>
          <p:cNvSpPr>
            <a:spLocks noGrp="1"/>
          </p:cNvSpPr>
          <p:nvPr>
            <p:ph sz="half" idx="5" hasCustomPrompt="1"/>
          </p:nvPr>
        </p:nvSpPr>
        <p:spPr>
          <a:xfrm>
            <a:off x="5550000" y="12960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sz="half" idx="7" hasCustomPrompt="1"/>
          </p:nvPr>
        </p:nvSpPr>
        <p:spPr>
          <a:xfrm>
            <a:off x="8222400" y="1295999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6"/>
          <p:cNvSpPr>
            <a:spLocks noGrp="1"/>
          </p:cNvSpPr>
          <p:nvPr>
            <p:ph sz="half" idx="4" hasCustomPrompt="1"/>
          </p:nvPr>
        </p:nvSpPr>
        <p:spPr>
          <a:xfrm>
            <a:off x="28776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B143799E-2832-49D7-9953-45BACACA7549}"/>
              </a:ext>
            </a:extLst>
          </p:cNvPr>
          <p:cNvSpPr>
            <a:spLocks noGrp="1"/>
          </p:cNvSpPr>
          <p:nvPr>
            <p:ph sz="half" idx="6" hasCustomPrompt="1"/>
          </p:nvPr>
        </p:nvSpPr>
        <p:spPr>
          <a:xfrm>
            <a:off x="55500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8"/>
          <p:cNvSpPr>
            <a:spLocks noGrp="1"/>
          </p:cNvSpPr>
          <p:nvPr>
            <p:ph sz="half" idx="8" hasCustomPrompt="1"/>
          </p:nvPr>
        </p:nvSpPr>
        <p:spPr>
          <a:xfrm>
            <a:off x="82224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1" name="AttachmentRemark">
            <a:extLst>
              <a:ext uri="{FF2B5EF4-FFF2-40B4-BE49-F238E27FC236}">
                <a16:creationId xmlns:a16="http://schemas.microsoft.com/office/drawing/2014/main" id="{60F530EA-2EFB-4DC6-BA26-465D18FD265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FE2449-86F7-413D-AD74-17B8BDC57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371421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  <p15:guide id="10" pos="1731" userDrawn="1">
          <p15:clr>
            <a:srgbClr val="FBAE40"/>
          </p15:clr>
        </p15:guide>
        <p15:guide id="11" pos="1810" userDrawn="1">
          <p15:clr>
            <a:srgbClr val="FBAE40"/>
          </p15:clr>
        </p15:guide>
        <p15:guide id="12" pos="3416" userDrawn="1">
          <p15:clr>
            <a:srgbClr val="FBAE40"/>
          </p15:clr>
        </p15:guide>
        <p15:guide id="13" pos="3497" userDrawn="1">
          <p15:clr>
            <a:srgbClr val="FBAE40"/>
          </p15:clr>
        </p15:guide>
        <p15:guide id="14" pos="5098" userDrawn="1">
          <p15:clr>
            <a:srgbClr val="FBAE40"/>
          </p15:clr>
        </p15:guide>
        <p15:guide id="15" pos="5177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pter_titleonly"/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0" name="AttachmentRemark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C74776-286D-45CF-B42A-A491ED08BE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Slide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4A29A7-9E35-4523-8421-38341F67C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822274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ttachmentRemark">
            <a:extLst>
              <a:ext uri="{FF2B5EF4-FFF2-40B4-BE49-F238E27FC236}">
                <a16:creationId xmlns:a16="http://schemas.microsoft.com/office/drawing/2014/main" id="{C868D9BE-A299-4D0B-87AF-B491FAE5FD28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0A8589-A8D2-4132-B89B-2FADFC125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074551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Logo">
            <a:extLst>
              <a:ext uri="{FF2B5EF4-FFF2-40B4-BE49-F238E27FC236}">
                <a16:creationId xmlns:a16="http://schemas.microsoft.com/office/drawing/2014/main" id="{F38A617B-35DF-43CE-B5F7-67FA9A7F2474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5200" y="648000"/>
            <a:ext cx="10558800" cy="388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1"/>
              <a:t>Add 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200" y="1296000"/>
            <a:ext cx="10558800" cy="4240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05200" y="5666400"/>
            <a:ext cx="288290" cy="41021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rgbClr val="999FA6"/>
                </a:solidFill>
                <a:latin typeface="+mn-lt"/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4" name="Bosch_footer_1">
            <a:extLst>
              <a:ext uri="{FF2B5EF4-FFF2-40B4-BE49-F238E27FC236}">
                <a16:creationId xmlns:a16="http://schemas.microsoft.com/office/drawing/2014/main" id="{179AD5EC-CEF2-4193-998B-D730BC74E01B}"/>
              </a:ext>
            </a:extLst>
          </p:cNvPr>
          <p:cNvSpPr txBox="1"/>
          <p:nvPr userDrawn="1"/>
        </p:nvSpPr>
        <p:spPr>
          <a:xfrm>
            <a:off x="547200" y="5688000"/>
            <a:ext cx="9126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Internal C-SC1</a:t>
            </a:r>
            <a:r>
              <a:rPr lang="en-US" sz="600" kern="0" baseline="0" noProof="1">
                <a:solidFill>
                  <a:schemeClr val="tx1"/>
                </a:solidFill>
                <a:latin typeface="+mn-lt"/>
              </a:rPr>
              <a:t> | MS/EHM-BST-TS | 2025-11-28</a:t>
            </a: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8" name="Bosch_footer_2">
            <a:extLst>
              <a:ext uri="{FF2B5EF4-FFF2-40B4-BE49-F238E27FC236}">
                <a16:creationId xmlns:a16="http://schemas.microsoft.com/office/drawing/2014/main" id="{C3D77AD5-379C-4A86-AFCF-32945A0FEE26}"/>
              </a:ext>
            </a:extLst>
          </p:cNvPr>
          <p:cNvSpPr txBox="1"/>
          <p:nvPr userDrawn="1"/>
        </p:nvSpPr>
        <p:spPr>
          <a:xfrm>
            <a:off x="547200" y="5793901"/>
            <a:ext cx="912600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rgbClr val="B2B3B5"/>
                </a:solidFill>
                <a:latin typeface="+mn-lt"/>
              </a:rPr>
              <a:t>© Bosch Global Software Technologies Private Limited 2025. All rights reserved, also regarding any disposal, exploitation, reproduction, editing, distribution, as well as in the event of applications for industrial property rights.</a:t>
            </a:r>
          </a:p>
        </p:txBody>
      </p:sp>
      <p:sp>
        <p:nvSpPr>
          <p:cNvPr id="15" name="Bosch_footer_1" hidden="1">
            <a:extLst>
              <a:ext uri="{FF2B5EF4-FFF2-40B4-BE49-F238E27FC236}">
                <a16:creationId xmlns:a16="http://schemas.microsoft.com/office/drawing/2014/main" id="{DB0BF576-A4BE-4521-98AB-F28795DF7BD0}"/>
              </a:ext>
            </a:extLst>
          </p:cNvPr>
          <p:cNvSpPr txBox="1"/>
          <p:nvPr userDrawn="1"/>
        </p:nvSpPr>
        <p:spPr>
          <a:xfrm>
            <a:off x="816069" y="5383543"/>
            <a:ext cx="9154800" cy="10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</a:rPr>
              <a:t>%classification%</a:t>
            </a:r>
            <a:r>
              <a:rPr lang="en-US" sz="600" kern="0" baseline="0" noProof="1">
                <a:solidFill>
                  <a:schemeClr val="tx1"/>
                </a:solidFill>
              </a:rPr>
              <a:t>%businessunit%%departmentshort%%dateformat%</a:t>
            </a:r>
          </a:p>
        </p:txBody>
      </p:sp>
      <p:sp>
        <p:nvSpPr>
          <p:cNvPr id="9" name="Bosch_footer_2" hidden="1">
            <a:extLst>
              <a:ext uri="{FF2B5EF4-FFF2-40B4-BE49-F238E27FC236}">
                <a16:creationId xmlns:a16="http://schemas.microsoft.com/office/drawing/2014/main" id="{E897C98A-4665-443F-B1CF-E9B71E9916EC}"/>
              </a:ext>
            </a:extLst>
          </p:cNvPr>
          <p:cNvSpPr txBox="1"/>
          <p:nvPr userDrawn="1"/>
        </p:nvSpPr>
        <p:spPr>
          <a:xfrm>
            <a:off x="593090" y="5748656"/>
            <a:ext cx="915289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chemeClr val="tx1"/>
                </a:solidFill>
              </a:rPr>
              <a:t>%repositoryremark%</a:t>
            </a:r>
            <a:r>
              <a:rPr lang="en-US" sz="600" kern="0" baseline="0" noProof="1">
                <a:solidFill>
                  <a:srgbClr val="B2B3B5"/>
                </a:solidFill>
              </a:rPr>
              <a:t>%copyright%</a:t>
            </a:r>
          </a:p>
        </p:txBody>
      </p:sp>
      <p:sp>
        <p:nvSpPr>
          <p:cNvPr id="5" name="Bosch_footer_conf" hidden="1">
            <a:extLst>
              <a:ext uri="{FF2B5EF4-FFF2-40B4-BE49-F238E27FC236}">
                <a16:creationId xmlns:a16="http://schemas.microsoft.com/office/drawing/2014/main" id="{F284BCA6-6C15-7058-29DB-AB9000B6F1CF}"/>
              </a:ext>
            </a:extLst>
          </p:cNvPr>
          <p:cNvSpPr txBox="1"/>
          <p:nvPr userDrawn="1"/>
        </p:nvSpPr>
        <p:spPr>
          <a:xfrm>
            <a:off x="816069" y="5168593"/>
            <a:ext cx="9154800" cy="10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</a:rPr>
              <a:t>%classification%</a:t>
            </a:r>
            <a:endParaRPr lang="en-US" sz="600" kern="0" baseline="0" noProof="1">
              <a:solidFill>
                <a:schemeClr val="tx1"/>
              </a:solidFill>
            </a:endParaRPr>
          </a:p>
        </p:txBody>
      </p:sp>
      <p:sp>
        <p:nvSpPr>
          <p:cNvPr id="13" name="AttachmentRemark" hidden="1">
            <a:extLst>
              <a:ext uri="{FF2B5EF4-FFF2-40B4-BE49-F238E27FC236}">
                <a16:creationId xmlns:a16="http://schemas.microsoft.com/office/drawing/2014/main" id="{F41551A9-D6BA-431A-8DBF-55BA472D9657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%attachmentremark% </a:t>
            </a:r>
          </a:p>
        </p:txBody>
      </p:sp>
      <p:pic>
        <p:nvPicPr>
          <p:cNvPr id="12" name="SuperGraphic">
            <a:extLst>
              <a:ext uri="{FF2B5EF4-FFF2-40B4-BE49-F238E27FC236}">
                <a16:creationId xmlns:a16="http://schemas.microsoft.com/office/drawing/2014/main" id="{1E0562BC-DD12-4C96-A115-D2D70EC1366D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553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10" r:id="rId2"/>
    <p:sldLayoutId id="2147483713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46" r:id="rId11"/>
    <p:sldLayoutId id="2147483744" r:id="rId12"/>
    <p:sldLayoutId id="2147483724" r:id="rId13"/>
    <p:sldLayoutId id="2147483726" r:id="rId14"/>
    <p:sldLayoutId id="2147483727" r:id="rId15"/>
    <p:sldLayoutId id="2147483728" r:id="rId16"/>
    <p:sldLayoutId id="2147483729" r:id="rId17"/>
    <p:sldLayoutId id="2147483745" r:id="rId18"/>
    <p:sldLayoutId id="2147483723" r:id="rId19"/>
    <p:sldLayoutId id="2147483734" r:id="rId20"/>
  </p:sldLayoutIdLst>
  <p:hf hdr="0" ftr="0" dt="0"/>
  <p:txStyles>
    <p:titleStyle>
      <a:lvl1pPr algn="l" defTabSz="914333" rtl="0" eaLnBrk="1" latinLnBrk="0" hangingPunct="1">
        <a:lnSpc>
          <a:spcPct val="89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30400" indent="-230400" algn="l" defTabSz="914333" rtl="0" eaLnBrk="1" latinLnBrk="0" hangingPunct="1">
        <a:lnSpc>
          <a:spcPct val="107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7600" indent="-230400" algn="l" defTabSz="914333" rtl="0" eaLnBrk="1" latinLnBrk="0" hangingPunct="1">
        <a:lnSpc>
          <a:spcPct val="103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4800" indent="-230400" algn="l" defTabSz="914333" rtl="0" eaLnBrk="1" latinLnBrk="0" hangingPunct="1">
        <a:lnSpc>
          <a:spcPct val="102000"/>
        </a:lnSpc>
        <a:spcBef>
          <a:spcPts val="500"/>
        </a:spcBef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3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9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8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97B92-14C0-0309-2755-8DA40E953B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2400">
                <a:latin typeface="Aptos"/>
              </a:rPr>
              <a:t>Request of Proposal of SW PRODUCT</a:t>
            </a:r>
            <a:br>
              <a:rPr lang="en-US" sz="2400">
                <a:latin typeface="Aptos"/>
              </a:rPr>
            </a:br>
            <a:r>
              <a:rPr lang="en-US"/>
              <a:t>MAIN ROBOTICS PROCESSING AND COMMUNICATIONS UNIT</a:t>
            </a:r>
            <a:br>
              <a:rPr lang="en-US"/>
            </a:b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4D4960-6F58-AA58-D4FC-5D60E55BE4CF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3289593" y="3327191"/>
            <a:ext cx="7287207" cy="1280809"/>
          </a:xfrm>
        </p:spPr>
        <p:txBody>
          <a:bodyPr vert="horz" lIns="0" tIns="0" rIns="0" bIns="0" rtlCol="0" anchor="t">
            <a:normAutofit fontScale="62500" lnSpcReduction="20000"/>
          </a:bodyPr>
          <a:lstStyle/>
          <a:p>
            <a:pPr algn="r"/>
            <a:r>
              <a:rPr lang="en-US" b="1"/>
              <a:t>~Team AI-nonymous</a:t>
            </a:r>
          </a:p>
          <a:p>
            <a:pPr algn="r"/>
            <a:r>
              <a:rPr lang="en-US"/>
              <a:t>Swathi D</a:t>
            </a:r>
          </a:p>
          <a:p>
            <a:pPr algn="r"/>
            <a:r>
              <a:rPr lang="en-US"/>
              <a:t>Raajshree Bharathi</a:t>
            </a:r>
          </a:p>
          <a:p>
            <a:pPr algn="r"/>
            <a:r>
              <a:rPr lang="en-US"/>
              <a:t>Raj Suriyan</a:t>
            </a:r>
          </a:p>
          <a:p>
            <a:pPr algn="r"/>
            <a:r>
              <a:rPr lang="en-US"/>
              <a:t>Akhil Jayaraman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82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005248D-15D1-B78E-8C99-BF1A19ADB2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b="1"/>
              <a:t>ABSTRACT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02BC4A-2A7F-7F0E-5065-1CCF831E6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2</a:t>
            </a:fld>
            <a:endParaRPr lang="en-US" noProof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250084-8647-0DAD-CFC8-56C479A0E04E}"/>
              </a:ext>
            </a:extLst>
          </p:cNvPr>
          <p:cNvSpPr txBox="1"/>
          <p:nvPr/>
        </p:nvSpPr>
        <p:spPr>
          <a:xfrm>
            <a:off x="945873" y="1242563"/>
            <a:ext cx="8716635" cy="286232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>
                <a:latin typeface="Bosch Office Sans"/>
              </a:rPr>
              <a:t> Designed a system based on a </a:t>
            </a:r>
            <a:r>
              <a:rPr lang="en-US" b="1">
                <a:latin typeface="Bosch Office Sans"/>
              </a:rPr>
              <a:t>ROS2–style decentralized robotic architecture</a:t>
            </a:r>
            <a:r>
              <a:rPr lang="en-US">
                <a:latin typeface="Bosch Office Sans"/>
              </a:rPr>
              <a:t>, where each subsystem functions as an independent module communicating over structured publish–subscribe channels. A central supervisor handles coordination, health monitoring, and safety management across these distributed units, following the same architectural principles used in ROS 2.</a:t>
            </a:r>
            <a:endParaRPr lang="en-US"/>
          </a:p>
          <a:p>
            <a:pPr algn="just">
              <a:buFont typeface="Arial" panose="020B0604020202020204" pitchFamily="34" charset="0"/>
              <a:buChar char="•"/>
            </a:pPr>
            <a:endParaRPr lang="en-US">
              <a:latin typeface="Bosch Office Sans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>
                <a:latin typeface="Bosch Office Sans"/>
              </a:rPr>
              <a:t> Running on a Linux-based processing platform, the system architecture is intended to interface with real robotic communication buses such as </a:t>
            </a:r>
            <a:r>
              <a:rPr lang="en-US" err="1">
                <a:latin typeface="Bosch Office Sans"/>
              </a:rPr>
              <a:t>CANopen</a:t>
            </a:r>
            <a:r>
              <a:rPr lang="en-US">
                <a:latin typeface="Bosch Office Sans"/>
              </a:rPr>
              <a:t>, Ethernet, LVDS, and Optical links, typically used to connect external modules P2, P3, and P4.</a:t>
            </a:r>
            <a:endParaRPr lang="en-US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>
              <a:latin typeface="Bosch Office Sans"/>
            </a:endParaRPr>
          </a:p>
        </p:txBody>
      </p:sp>
    </p:spTree>
    <p:extLst>
      <p:ext uri="{BB962C8B-B14F-4D97-AF65-F5344CB8AC3E}">
        <p14:creationId xmlns:p14="http://schemas.microsoft.com/office/powerpoint/2010/main" val="424531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60914B-5C95-1F84-EC61-90784CC9CB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b="1"/>
              <a:t>OBJECTIVE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312C8A-79AA-AD7B-A22E-998C7862ADE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05200" y="1000800"/>
            <a:ext cx="10558800" cy="4240800"/>
          </a:xfrm>
        </p:spPr>
        <p:txBody>
          <a:bodyPr vert="horz" lIns="0" tIns="0" rIns="0" bIns="0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To ensure safe and reliable operation, the central robotics controller(CRC) includes a </a:t>
            </a:r>
            <a:r>
              <a:rPr lang="en-US" b="1"/>
              <a:t>comprehensive Safety, Logging, and Monitoring (SLM) framework</a:t>
            </a:r>
            <a:r>
              <a:rPr lang="en-US"/>
              <a:t>, responsible for real-time system evaluation. This framework implements:</a:t>
            </a:r>
          </a:p>
          <a:p>
            <a:pPr marL="687070" lvl="1" indent="-229870">
              <a:buFont typeface="Arial" panose="020B0604020202020204" pitchFamily="34" charset="0"/>
              <a:buChar char="•"/>
            </a:pPr>
            <a:r>
              <a:rPr lang="en-US" b="1"/>
              <a:t>Heartbeat Monitoring:</a:t>
            </a:r>
            <a:r>
              <a:rPr lang="en-US"/>
              <a:t> Continuous heartbeat exchange with P2, P3, and P4 to detect connectivity failures or silent node crashes.</a:t>
            </a:r>
          </a:p>
          <a:p>
            <a:pPr marL="687070" lvl="1" indent="-229870">
              <a:buFont typeface="Arial" panose="020B0604020202020204" pitchFamily="34" charset="0"/>
              <a:buChar char="•"/>
            </a:pPr>
            <a:r>
              <a:rPr lang="en-US" b="1"/>
              <a:t>Diagnostics Collection:</a:t>
            </a:r>
            <a:r>
              <a:rPr lang="en-US"/>
              <a:t> Periodic acquisition of CPU, memory, and disk health parameters from all distributed modules, enabling condition-based monitoring.</a:t>
            </a:r>
          </a:p>
          <a:p>
            <a:pPr marL="457200" lvl="1" indent="0">
              <a:buNone/>
            </a:pPr>
            <a:r>
              <a:rPr lang="en-US">
                <a:latin typeface="Arial"/>
                <a:cs typeface="Arial"/>
              </a:rPr>
              <a:t>•</a:t>
            </a:r>
            <a:r>
              <a:rPr lang="en-US" b="1"/>
              <a:t> Live map status</a:t>
            </a:r>
            <a:r>
              <a:rPr lang="en-US"/>
              <a:t>: Detection of the movements and directions using live map tracking</a:t>
            </a:r>
          </a:p>
          <a:p>
            <a:pPr marL="687070" lvl="1" indent="-229870">
              <a:buFont typeface="Arial" panose="020B0604020202020204" pitchFamily="34" charset="0"/>
              <a:buChar char="•"/>
            </a:pPr>
            <a:r>
              <a:rPr lang="en-US" b="1"/>
              <a:t>Alerts &amp; Fault Detection:</a:t>
            </a:r>
            <a:r>
              <a:rPr lang="en-US"/>
              <a:t> Automated detection of abnormal conditions such as heartbeat timeout, resource exhaustion, or communication loss, with immediate alerts and sound notifications.</a:t>
            </a:r>
          </a:p>
          <a:p>
            <a:pPr marL="687070" lvl="1" indent="-229870">
              <a:buFont typeface="Arial" panose="020B0604020202020204" pitchFamily="34" charset="0"/>
              <a:buChar char="•"/>
            </a:pPr>
            <a:r>
              <a:rPr lang="en-US" b="1"/>
              <a:t>Dashboard Visualization:</a:t>
            </a:r>
            <a:r>
              <a:rPr lang="en-US"/>
              <a:t> A real-time web dashboard, implemented using </a:t>
            </a:r>
            <a:r>
              <a:rPr lang="en-US" b="1" err="1"/>
              <a:t>FastAPI</a:t>
            </a:r>
            <a:r>
              <a:rPr lang="en-US" b="1"/>
              <a:t>, MQTT, and Chart.js</a:t>
            </a:r>
            <a:r>
              <a:rPr lang="en-US"/>
              <a:t>, visualizes heartbeat graphs, diagnostics history, timestamps, and system alerts with audio alarms for critical faults.</a:t>
            </a:r>
          </a:p>
          <a:p>
            <a:pPr marL="687070" lvl="1" indent="-229870">
              <a:buFont typeface="Arial" panose="020B0604020202020204" pitchFamily="34" charset="0"/>
              <a:buChar char="•"/>
            </a:pPr>
            <a:r>
              <a:rPr lang="en-US" b="1"/>
              <a:t>Cloud Integration Ready:</a:t>
            </a:r>
            <a:r>
              <a:rPr lang="en-US"/>
              <a:t> The architecture includes a publish–subscribe communication backbone via MQTT, enabling seamless remote streaming of logs, health metrics, and safety events to cloud services for long-term analytics.</a:t>
            </a:r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7AB3F2-616E-AEC3-9093-63814A7FC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3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824646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FC694D-82AE-CD24-716B-3D9D10152A4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b="1"/>
              <a:t>ARCHITECTURE OUTLINE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984E90-A739-74C5-0E6A-DFBCAC97BB1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229870" indent="-229870">
              <a:buFont typeface="Wingdings" panose="05000000000000000000" pitchFamily="2" charset="2"/>
              <a:buChar char="Ø"/>
            </a:pPr>
            <a:r>
              <a:rPr lang="en-US"/>
              <a:t>The implemented method adopts a </a:t>
            </a:r>
            <a:r>
              <a:rPr lang="en-US" b="1"/>
              <a:t>distributed simulation approach</a:t>
            </a:r>
            <a:r>
              <a:rPr lang="en-US"/>
              <a:t>, where P2, P3, and P4 operate as independent modules continuously publishing heartbeat and diagnostics information. </a:t>
            </a:r>
          </a:p>
          <a:p>
            <a:pPr marL="229870" indent="-229870">
              <a:buFont typeface="Wingdings" panose="05000000000000000000" pitchFamily="2" charset="2"/>
              <a:buChar char="Ø"/>
            </a:pPr>
            <a:endParaRPr lang="en-US"/>
          </a:p>
          <a:p>
            <a:pPr marL="229870" indent="-229870">
              <a:buFont typeface="Wingdings" panose="05000000000000000000" pitchFamily="2" charset="2"/>
              <a:buChar char="Ø"/>
            </a:pPr>
            <a:r>
              <a:rPr lang="en-US"/>
              <a:t>The controller aggregates, processes, and analyzes this data through a </a:t>
            </a:r>
            <a:r>
              <a:rPr lang="en-US" b="1"/>
              <a:t>central monitoring controller</a:t>
            </a:r>
            <a:r>
              <a:rPr lang="en-US"/>
              <a:t> and displays it on a fully dynamic dashboard capable of real-time graphing, alerting, and historical trend analysis.</a:t>
            </a:r>
          </a:p>
          <a:p>
            <a:pPr marL="229870" indent="-229870">
              <a:buFont typeface="Wingdings" panose="05000000000000000000" pitchFamily="2" charset="2"/>
              <a:buChar char="Ø"/>
            </a:pPr>
            <a:endParaRPr lang="en-US"/>
          </a:p>
          <a:p>
            <a:pPr marL="229870" indent="-229870">
              <a:buFont typeface="Wingdings" panose="05000000000000000000" pitchFamily="2" charset="2"/>
              <a:buChar char="Ø"/>
            </a:pPr>
            <a:r>
              <a:rPr lang="en-US"/>
              <a:t>This layered approach provides a </a:t>
            </a:r>
            <a:r>
              <a:rPr lang="en-US" b="1"/>
              <a:t>fail-safe, modular, and extensible monitoring ecosystem</a:t>
            </a:r>
            <a:r>
              <a:rPr lang="en-US"/>
              <a:t> suitable for industrial robots, autonomous vehicles, and safety-critical embedded platforms, ensuring high reliability through continuous health assessment, live-tracking, proactive fault detection, and robust communication management.</a:t>
            </a:r>
          </a:p>
          <a:p>
            <a:pPr marL="229870" indent="-22987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EF557A-3237-4D36-53B2-E0C2ECD55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4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723406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software&#10;&#10;AI-generated content may be incorrect.">
            <a:extLst>
              <a:ext uri="{FF2B5EF4-FFF2-40B4-BE49-F238E27FC236}">
                <a16:creationId xmlns:a16="http://schemas.microsoft.com/office/drawing/2014/main" id="{89F733F4-2484-AC51-467E-567B113BD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161" y="146729"/>
            <a:ext cx="4631623" cy="5673511"/>
          </a:xfrm>
          <a:prstGeom prst="rect">
            <a:avLst/>
          </a:prstGeom>
          <a:noFill/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EDB911CE-9108-ADA7-0102-87D28CDE7AAA}"/>
              </a:ext>
            </a:extLst>
          </p:cNvPr>
          <p:cNvSpPr>
            <a:spLocks noGrp="1"/>
          </p:cNvSpPr>
          <p:nvPr>
            <p:ph type="body" sz="quarter" idx="99"/>
          </p:nvPr>
        </p:nvSpPr>
        <p:spPr>
          <a:xfrm>
            <a:off x="9672212" y="5561282"/>
            <a:ext cx="1231531" cy="506144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60030F-7027-813F-C866-131EFB507895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205200" y="259200"/>
            <a:ext cx="10558800" cy="388800"/>
          </a:xfrm>
        </p:spPr>
        <p:txBody>
          <a:bodyPr vert="horz" lIns="0" tIns="0" rIns="0" bIns="0" rtlCol="0" anchor="t">
            <a:noAutofit/>
          </a:bodyPr>
          <a:lstStyle/>
          <a:p>
            <a:pPr marL="229870" indent="-229870"/>
            <a:r>
              <a:rPr lang="en-US" sz="2000" b="1"/>
              <a:t>ARCHITECTURE</a:t>
            </a:r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AB152A55-C8C8-C4B3-AB13-0A53838C83E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205200" y="5666400"/>
            <a:ext cx="288290" cy="410210"/>
          </a:xfrm>
        </p:spPr>
        <p:txBody>
          <a:bodyPr/>
          <a:lstStyle/>
          <a:p>
            <a:pPr>
              <a:spcAft>
                <a:spcPts val="600"/>
              </a:spcAft>
            </a:pPr>
            <a:fld id="{4898AEC0-503E-4FA4-859C-D0F72D6E3F79}" type="slidenum">
              <a:rPr lang="en-US" noProof="1" smtClean="0"/>
              <a:pPr>
                <a:spcAft>
                  <a:spcPts val="600"/>
                </a:spcAft>
              </a:pPr>
              <a:t>5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437005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7BF83BB-FD35-FFB2-3A26-B688230F08B7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205315" y="828765"/>
            <a:ext cx="9582763" cy="4509484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456D6F-E3E7-992E-09AE-98488D919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6</a:t>
            </a:fld>
            <a:endParaRPr lang="en-US" noProof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C867C9-BF71-C75B-4327-5BAF7DEF18AA}"/>
              </a:ext>
            </a:extLst>
          </p:cNvPr>
          <p:cNvSpPr txBox="1"/>
          <p:nvPr/>
        </p:nvSpPr>
        <p:spPr>
          <a:xfrm>
            <a:off x="270770" y="80228"/>
            <a:ext cx="2743199" cy="6181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fontAlgn="auto">
              <a:spcBef>
                <a:spcPts val="500"/>
              </a:spcBef>
              <a:spcAft>
                <a:spcPts val="0"/>
              </a:spcAft>
            </a:pPr>
            <a:r>
              <a:rPr lang="en-US" b="1" kern="0">
                <a:solidFill>
                  <a:srgbClr val="000000"/>
                </a:solidFill>
                <a:latin typeface="Bosch Office Sans"/>
              </a:rPr>
              <a:t>OUTPUT</a:t>
            </a:r>
            <a:endParaRPr lang="en-US" b="1"/>
          </a:p>
          <a:p>
            <a:pPr marL="285750" marR="0" indent="-285750" algn="l" defTabSz="914400">
              <a:spcBef>
                <a:spcPts val="500"/>
              </a:spcBef>
              <a:spcAft>
                <a:spcPts val="0"/>
              </a:spcAft>
              <a:buClrTx/>
              <a:buSzTx/>
              <a:buFont typeface="Wingdings"/>
              <a:buChar char="Ø"/>
              <a:tabLst/>
            </a:pPr>
            <a:r>
              <a:rPr lang="en-US" kern="0">
                <a:solidFill>
                  <a:srgbClr val="000000"/>
                </a:solidFill>
                <a:latin typeface="Bosch Office Sans"/>
              </a:rPr>
              <a:t>DASHBOARD</a:t>
            </a:r>
            <a:endParaRPr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319798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23C11-2B97-4ED6-A45A-AE4576D02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946" y="648000"/>
            <a:ext cx="10558800" cy="388800"/>
          </a:xfrm>
        </p:spPr>
        <p:txBody>
          <a:bodyPr/>
          <a:lstStyle/>
          <a:p>
            <a:pPr marL="457200" indent="-457200">
              <a:buFont typeface="Wingdings"/>
              <a:buChar char="Ø"/>
            </a:pPr>
            <a:r>
              <a:rPr lang="en-US" sz="2000">
                <a:solidFill>
                  <a:schemeClr val="tx1"/>
                </a:solidFill>
              </a:rPr>
              <a:t>CPU, memory, disk tracking for each interface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582722-0B9A-1EA0-891D-B7B82397FF2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en-US" b="1"/>
              <a:t>OUTPUT</a:t>
            </a:r>
          </a:p>
        </p:txBody>
      </p:sp>
      <p:pic>
        <p:nvPicPr>
          <p:cNvPr id="6" name="Content Placeholder 5" descr="A screenshot of a graph&#10;&#10;AI-generated content may be incorrect.">
            <a:extLst>
              <a:ext uri="{FF2B5EF4-FFF2-40B4-BE49-F238E27FC236}">
                <a16:creationId xmlns:a16="http://schemas.microsoft.com/office/drawing/2014/main" id="{29B054CE-DB2D-4663-90B0-0ED1155F04E7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3661983" y="1282065"/>
            <a:ext cx="2802776" cy="327777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DFF83B-D4B8-89CB-2FCE-CFB9B5DF1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7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455690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F6977-B1AE-E74C-EA92-4A94AD4B5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157" y="859426"/>
            <a:ext cx="10558800" cy="388800"/>
          </a:xfrm>
        </p:spPr>
        <p:txBody>
          <a:bodyPr/>
          <a:lstStyle/>
          <a:p>
            <a:pPr marL="342900" indent="-342900">
              <a:buFont typeface="Wingdings"/>
              <a:buChar char="Ø"/>
            </a:pPr>
            <a:r>
              <a:rPr lang="en-US" sz="2000">
                <a:solidFill>
                  <a:schemeClr val="tx1"/>
                </a:solidFill>
              </a:rPr>
              <a:t>Heartbeat monitoring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E234A7-EFD3-9719-233F-EA923B5BCD8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en-US" b="1"/>
              <a:t>OUTPUT</a:t>
            </a:r>
          </a:p>
        </p:txBody>
      </p:sp>
      <p:pic>
        <p:nvPicPr>
          <p:cNvPr id="6" name="Content Placeholder 5" descr="A graph showing a red line&#10;&#10;AI-generated content may be incorrect.">
            <a:extLst>
              <a:ext uri="{FF2B5EF4-FFF2-40B4-BE49-F238E27FC236}">
                <a16:creationId xmlns:a16="http://schemas.microsoft.com/office/drawing/2014/main" id="{C41B4A52-850E-51B8-45B7-6D0BF150F1EF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2622319" y="1538875"/>
            <a:ext cx="5716716" cy="350415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4A94A6-5159-5BEE-0361-4AEC79480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8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838305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1A876-B64A-4112-A1CA-FEAB35F87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396" y="851595"/>
            <a:ext cx="10558800" cy="388800"/>
          </a:xfrm>
        </p:spPr>
        <p:txBody>
          <a:bodyPr/>
          <a:lstStyle/>
          <a:p>
            <a:pPr marL="457200" indent="-457200">
              <a:buFont typeface="Wingdings"/>
              <a:buChar char="Ø"/>
            </a:pPr>
            <a:r>
              <a:rPr lang="en-US" sz="2400">
                <a:solidFill>
                  <a:schemeClr val="tx1"/>
                </a:solidFill>
              </a:rPr>
              <a:t>Battery, temperature and speed monitoring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14768E-4163-A1DC-5FD0-AD4D043B5CE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en-US" b="1"/>
              <a:t>OUTPUT</a:t>
            </a:r>
          </a:p>
        </p:txBody>
      </p:sp>
      <p:pic>
        <p:nvPicPr>
          <p:cNvPr id="6" name="Content Placeholder 5" descr="A screen shot of a graph&#10;&#10;AI-generated content may be incorrect.">
            <a:extLst>
              <a:ext uri="{FF2B5EF4-FFF2-40B4-BE49-F238E27FC236}">
                <a16:creationId xmlns:a16="http://schemas.microsoft.com/office/drawing/2014/main" id="{32BDA489-CB33-A7F6-B9C6-15837AF1254F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496676" y="1544004"/>
            <a:ext cx="10147319" cy="3370954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DC70F6-1F8D-0D0D-1FA6-9BA1FD6CF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9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394088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259F16-47B6-DF1E-B443-76DB9FE0918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en-US" b="1"/>
              <a:t>OUTPUT</a:t>
            </a:r>
          </a:p>
        </p:txBody>
      </p:sp>
      <p:pic>
        <p:nvPicPr>
          <p:cNvPr id="2" name="Content Placeholder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5F00E6D-8AEB-73EF-309C-CA62F2051FA7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333497" y="1405359"/>
            <a:ext cx="3537319" cy="2289961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5C9E60-BFC9-31EC-CD64-32030125D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10</a:t>
            </a:fld>
            <a:endParaRPr lang="en-US" noProof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C7422D-3B97-2503-E447-16F72E0EBE88}"/>
              </a:ext>
            </a:extLst>
          </p:cNvPr>
          <p:cNvSpPr txBox="1"/>
          <p:nvPr/>
        </p:nvSpPr>
        <p:spPr>
          <a:xfrm>
            <a:off x="842398" y="772198"/>
            <a:ext cx="378605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fontAlgn="auto">
              <a:spcBef>
                <a:spcPts val="500"/>
              </a:spcBef>
              <a:spcAft>
                <a:spcPts val="0"/>
              </a:spcAft>
              <a:buFont typeface="Wingdings"/>
              <a:buChar char="Ø"/>
            </a:pPr>
            <a:r>
              <a:rPr lang="en-US" sz="2000" kern="0">
                <a:solidFill>
                  <a:srgbClr val="000000"/>
                </a:solidFill>
                <a:latin typeface="Bosch Office Sans"/>
              </a:rPr>
              <a:t>Live map tracking and status</a:t>
            </a:r>
            <a:endParaRPr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540CA91-E36B-C7AF-F695-0E47CFABD0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6218" y="1404617"/>
            <a:ext cx="2812862" cy="2287049"/>
          </a:xfrm>
          <a:prstGeom prst="rect">
            <a:avLst/>
          </a:prstGeom>
        </p:spPr>
      </p:pic>
      <p:pic>
        <p:nvPicPr>
          <p:cNvPr id="6" name="Picture 5" descr="A screen shot of a game&#10;&#10;AI-generated content may be incorrect.">
            <a:extLst>
              <a:ext uri="{FF2B5EF4-FFF2-40B4-BE49-F238E27FC236}">
                <a16:creationId xmlns:a16="http://schemas.microsoft.com/office/drawing/2014/main" id="{98B4FF95-9F42-9419-A66F-994CF60807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9450" y="1403491"/>
            <a:ext cx="2914797" cy="22847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E15AE67-A6A8-9670-DC80-F0B9E0973FCC}"/>
              </a:ext>
            </a:extLst>
          </p:cNvPr>
          <p:cNvSpPr txBox="1"/>
          <p:nvPr/>
        </p:nvSpPr>
        <p:spPr>
          <a:xfrm>
            <a:off x="846773" y="4191933"/>
            <a:ext cx="5518929" cy="13003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fontAlgn="auto">
              <a:spcBef>
                <a:spcPts val="500"/>
              </a:spcBef>
              <a:spcAft>
                <a:spcPts val="0"/>
              </a:spcAft>
            </a:pPr>
            <a:r>
              <a:rPr lang="en-US" kern="0">
                <a:solidFill>
                  <a:srgbClr val="000000"/>
                </a:solidFill>
                <a:latin typeface="Bosch Office Sans"/>
              </a:rPr>
              <a:t>1.Live robot map and status(in rest mode)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lang="en-US" kern="0">
                <a:solidFill>
                  <a:srgbClr val="000000"/>
                </a:solidFill>
                <a:latin typeface="Bosch Office Sans"/>
              </a:rPr>
              <a:t>2.Robot status with movement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lang="en-US" kern="0">
                <a:solidFill>
                  <a:srgbClr val="000000"/>
                </a:solidFill>
                <a:latin typeface="Bosch Office Sans"/>
              </a:rPr>
              <a:t>3.Movement with LED on</a:t>
            </a:r>
            <a:endParaRPr lang="en-US" kern="0">
              <a:solidFill>
                <a:srgbClr val="000000"/>
              </a:solidFill>
            </a:endParaRPr>
          </a:p>
          <a:p>
            <a:pPr>
              <a:spcBef>
                <a:spcPts val="500"/>
              </a:spcBef>
              <a:spcAft>
                <a:spcPts val="0"/>
              </a:spcAft>
            </a:pPr>
            <a:endParaRPr lang="en-US" ker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4170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7419A016-8DAF-143C-6239-D663382935E5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847582" y="1154801"/>
            <a:ext cx="7132177" cy="42408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5AAF4C-4D01-70AC-6858-CF2C5E1A5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11</a:t>
            </a:fld>
            <a:endParaRPr lang="en-US" noProof="1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D74510C-7E3D-EB9F-A540-CB5A5060B67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05200" y="259200"/>
            <a:ext cx="10558800" cy="388800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b="1"/>
              <a:t>OUTPUT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EBF674B-115B-DAD0-E254-1B2EC79F1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200" y="648000"/>
            <a:ext cx="10558800" cy="388800"/>
          </a:xfrm>
        </p:spPr>
        <p:txBody>
          <a:bodyPr/>
          <a:lstStyle/>
          <a:p>
            <a:pPr marL="457200" indent="-457200">
              <a:buFont typeface="Wingdings"/>
              <a:buChar char="Ø"/>
            </a:pPr>
            <a:r>
              <a:rPr lang="en-US" sz="2000">
                <a:solidFill>
                  <a:schemeClr val="tx1"/>
                </a:solidFill>
              </a:rPr>
              <a:t>Logs with timestamp</a:t>
            </a:r>
          </a:p>
        </p:txBody>
      </p:sp>
    </p:spTree>
    <p:extLst>
      <p:ext uri="{BB962C8B-B14F-4D97-AF65-F5344CB8AC3E}">
        <p14:creationId xmlns:p14="http://schemas.microsoft.com/office/powerpoint/2010/main" val="3398223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robot holding a heart&#10;&#10;AI-generated content may be incorrect.">
            <a:extLst>
              <a:ext uri="{FF2B5EF4-FFF2-40B4-BE49-F238E27FC236}">
                <a16:creationId xmlns:a16="http://schemas.microsoft.com/office/drawing/2014/main" id="{969269FF-23BE-EEEE-B2D7-E07437CCF354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2237560" y="89752"/>
            <a:ext cx="5954260" cy="549530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50040C-09D4-AC6E-7D9D-84D1214D1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12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40525339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AXMLTEMPLATE" val="presentation_169"/>
  <p:tag name="SAXMLCOMPANYNAME" val="bosch"/>
  <p:tag name="MLLANGUAGE" val="eng"/>
  <p:tag name="MLTEMPLATEVERSION" val="2.2"/>
  <p:tag name="SAXCONVERSION" val="2"/>
</p:tagLst>
</file>

<file path=ppt/theme/theme1.xml><?xml version="1.0" encoding="utf-8"?>
<a:theme xmlns:a="http://schemas.openxmlformats.org/drawingml/2006/main" name="Bosch 2024">
  <a:themeElements>
    <a:clrScheme name="Bosch Blau">
      <a:dk1>
        <a:sysClr val="windowText" lastClr="000000"/>
      </a:dk1>
      <a:lt1>
        <a:sysClr val="window" lastClr="FFFFFF"/>
      </a:lt1>
      <a:dk2>
        <a:srgbClr val="424C58"/>
      </a:dk2>
      <a:lt2>
        <a:srgbClr val="B2B3B5"/>
      </a:lt2>
      <a:accent1>
        <a:srgbClr val="007BC0"/>
      </a:accent1>
      <a:accent2>
        <a:srgbClr val="004975"/>
      </a:accent2>
      <a:accent3>
        <a:srgbClr val="007BC0"/>
      </a:accent3>
      <a:accent4>
        <a:srgbClr val="004975"/>
      </a:accent4>
      <a:accent5>
        <a:srgbClr val="007BC0"/>
      </a:accent5>
      <a:accent6>
        <a:srgbClr val="004975"/>
      </a:accent6>
      <a:hlink>
        <a:srgbClr val="738CB4"/>
      </a:hlink>
      <a:folHlink>
        <a:srgbClr val="B0BBD0"/>
      </a:folHlink>
    </a:clrScheme>
    <a:fontScheme name="Bosch">
      <a:majorFont>
        <a:latin typeface="Bosch Office Sans"/>
        <a:ea typeface=""/>
        <a:cs typeface=""/>
      </a:majorFont>
      <a:minorFont>
        <a:latin typeface="Bosch Offic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 cap="flat" cmpd="sng" algn="ctr">
          <a:solidFill>
            <a:srgbClr val="3F136C"/>
          </a:solidFill>
          <a:prstDash val="solid"/>
        </a:ln>
        <a:effectLst/>
      </a:spPr>
      <a:bodyPr rtlCol="0" anchor="ctr"/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Bosch Office Sans"/>
            <a:ea typeface="+mn-ea"/>
            <a:cs typeface="+mn-cs"/>
          </a:defRPr>
        </a:defPPr>
      </a:lstStyle>
    </a:spDef>
    <a:txDef>
      <a:spPr>
        <a:noFill/>
      </a:spPr>
      <a:bodyPr wrap="square" lIns="0" tIns="0" rIns="0" bIns="0" rtlCol="0">
        <a:noAutofit/>
      </a:bodyPr>
      <a:lstStyle>
        <a:defPPr marR="0" algn="l" defTabSz="914400" eaLnBrk="1" fontAlgn="auto" latinLnBrk="0" hangingPunct="1">
          <a:spcBef>
            <a:spcPts val="50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smtClean="0">
            <a:ln>
              <a:noFill/>
            </a:ln>
            <a:solidFill>
              <a:srgbClr val="000000"/>
            </a:solidFill>
            <a:effectLst/>
            <a:uLnTx/>
            <a:uFillTx/>
          </a:defRPr>
        </a:defPPr>
      </a:lstStyle>
    </a:txDef>
  </a:objectDefaults>
  <a:extraClrSchemeLst/>
  <a:custClrLst>
    <a:custClr name="Bosch Red 50">
      <a:srgbClr val="ED0007"/>
    </a:custClr>
    <a:custClr name="Bosch Purple 40">
      <a:srgbClr val="9E2896"/>
    </a:custClr>
    <a:custClr name="Bosch Purple 20">
      <a:srgbClr val="551151"/>
    </a:custClr>
    <a:custClr name="Bosch Blue 50">
      <a:srgbClr val="007BC0"/>
    </a:custClr>
    <a:custClr name="Bosch Blue 30">
      <a:srgbClr val="004975"/>
    </a:custClr>
    <a:custClr name="Bosch Turquoise 50">
      <a:srgbClr val="18837E"/>
    </a:custClr>
    <a:custClr name="Bosch Turquoise 30">
      <a:srgbClr val="0A4F4B"/>
    </a:custClr>
    <a:custClr name="Bosch Green 50">
      <a:srgbClr val="00884A"/>
    </a:custClr>
    <a:custClr name="Bosch Green 30">
      <a:srgbClr val="00512A"/>
    </a:custClr>
    <a:custClr name="Bosch Gray 50">
      <a:srgbClr val="71767C"/>
    </a:custClr>
  </a:custClrLst>
  <a:extLst>
    <a:ext uri="{05A4C25C-085E-4340-85A3-A5531E510DB2}">
      <thm15:themeFamily xmlns:thm15="http://schemas.microsoft.com/office/thememl/2012/main" name="template1.potx" id="{198F02AD-A328-41CF-AEF3-4AEA9DC97E6D}" vid="{A553CE3C-9352-4BF3-9E58-0BEA59765750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saxML>
  <saxMLTemplate>presentation_169</saxMLTemplate>
  <Variablen>
    <Variable>
      <Name>attachmentremark</Name>
      <OrgInhalt/>
      <Wert/>
      <Platzhalter>False</Platzhalter>
      <DocDatenDialog>True</DocDatenDialog>
      <Label>Attachment</Label>
      <FrageVar>False</FrageVar>
      <Prefix/>
      <Suffix/>
      <WegfallVar/>
      <MussFeld>False</MussFeld>
      <InDokument>True</InDokument>
      <Sektion>AttachmentRemark</Sektion>
      <Reihenfolge>0</Reihenfolge>
    </Variable>
    <Variable>
      <Name>departmentshort</Name>
      <OrgInhalt>MS/EHM-BST-TS</OrgInhalt>
      <Wert>MS/EHM-BST-TS</Wert>
      <Platzhalter>False</Platzhalter>
      <DocDatenDialog>True</DocDatenDialog>
      <Label>Authoring</Label>
      <FrageVar>False</FrageVar>
      <Prefix/>
      <Suffix/>
      <WegfallVar/>
      <MussFeld>False</MussFeld>
      <Trenner>
        <VariableVor>classification</VariableVor>
        <VariableVor>businessunit</VariableVor>
        <Zwischen> | </Zwischen>
        <VariableNach>departmentshort</VariableNach>
      </Trenner>
      <InDokument>True</InDokument>
      <Sektion>Bosch_footer_1</Sektion>
      <Reihenfolge/>
    </Variable>
    <Variable>
      <Name>classification</Name>
      <OrgInhalt>Internal C-SC1</OrgInhalt>
      <Wert>Internal C-SC1</Wert>
      <Platzhalter>False</Platzhalter>
      <DocDatenDialog>True</DocDatenDialog>
      <Label>Classification:</Label>
      <FrageVar>False</FrageVar>
      <Prefix/>
      <Suffix/>
      <WegfallVar/>
      <ComboBox>
        <Option>Public C-SC0</Option>
        <Option>Internal C-SC1</Option>
        <Option>Confidential C-SC2</Option>
        <Option>Strictly confidential C-SC3</Option>
        <Option/>
      </ComboBox>
      <MussFeld>False</MussFeld>
      <InDokument>True</InDokument>
      <Sektion>Bosch_footer_1</Sektion>
      <Reihenfolge>0</Reihenfolge>
    </Variable>
    <Variable>
      <Name>classification2</Name>
      <OrgInhalt>Internal C-SC1</OrgInhalt>
      <Wert>Internal C-SC1</Wert>
      <Platzhalter>False</Platzhalter>
      <DocDatenDialog>False</DocDatenDialog>
      <Label>Classification:</Label>
      <FrageVar>False</FrageVar>
      <Prefix/>
      <Suffix/>
      <WegfallVar/>
      <ComboBox>
        <Option>Public C-SC0</Option>
        <Option>Internal C-SC1</Option>
        <Option>Confidential C-SC2</Option>
        <Option>Strictly confidential C-SC3</Option>
        <Option/>
      </ComboBox>
      <MussFeld>False</MussFeld>
      <InDokument>True</InDokument>
      <Sektion>Bosch_footer_conf</Sektion>
      <Reihenfolge>0</Reihenfolge>
    </Variable>
    <Variable>
      <Name>copyright</Name>
      <OrgInhalt>© Bosch Global Software Technologies Private Limited 2025. All rights reserved, also regarding any disposal, exploitation, reproduction, editing, distribution, as well as in the event of applications for industrial property rights.</OrgInhalt>
      <Wert>© Bosch Global Software Technologies Private Limited 2025. All rights reserved, also regarding any disposal, exploitation, reproduction, editing, distribution, as well as in the event of applications for industrial property rights.</Wert>
      <Platzhalter>False</Platzhalter>
      <DocDatenDialog>False</DocDatenDialog>
      <Label>$tr_copyright$</Label>
      <FrageVar>False</FrageVar>
      <Prefix/>
      <Suffix/>
      <WegfallVar/>
      <MussFeld>False</MussFeld>
      <Trenner>
        <VariableVor>repositoryremark</VariableVor>
        <Zwischen>&lt;br&gt;</Zwischen>
        <VariableNach>copyright</VariableNach>
      </Trenner>
      <InDokument>True</InDokument>
      <Sektion>Bosch_footer_2</Sektion>
      <Reihenfolge/>
    </Variable>
    <Variable>
      <Name>dateformat</Name>
      <OrgInhalt>2025-11-28</OrgInhalt>
      <Wert>2025-11-28</Wert>
      <Platzhalter>False</Platzhalter>
      <DocDatenDialog>True</DocDatenDialog>
      <Label>Date</Label>
      <FrageVar>False</FrageVar>
      <Prefix/>
      <Suffix/>
      <WegfallVar/>
      <MussFeld>False</MussFeld>
      <Trenner>
        <VariableVor>departmentshort</VariableVor>
        <VariableVor>classification</VariableVor>
        <VariableVor>businessunit</VariableVor>
        <Zwischen> | </Zwischen>
        <VariableNach>dateformat</VariableNach>
      </Trenner>
      <InDokument>True</InDokument>
      <Sektion>Bosch_footer_1</Sektion>
      <Reihenfolge>0</Reihenfolge>
    </Variable>
    <Variable>
      <Name>businessunit</Name>
      <OrgInhalt/>
      <Wert/>
      <Platzhalter>False</Platzhalter>
      <DocDatenDialog>False</DocDatenDialog>
      <Label>$tr_businessunit$</Label>
      <FrageVar>False</FrageVar>
      <Prefix/>
      <Suffix/>
      <WegfallVar/>
      <MussFeld>False</MussFeld>
      <Trenner>
        <VariableVor>classification</VariableVor>
        <Zwischen> | </Zwischen>
        <VariableNach>businessunit</VariableNach>
      </Trenner>
      <InDokument>True</InDokument>
      <Sektion>Bosch_footer_1</Sektion>
      <Reihenfolge>0</Reihenfolge>
    </Variable>
    <Variable>
      <Name>repositoryremark</Name>
      <OrgInhalt/>
      <Wert/>
      <Platzhalter>False</Platzhalter>
      <DocDatenDialog>True</DocDatenDialog>
      <Label>Filing note</Label>
      <FrageVar>False</FrageVar>
      <Prefix/>
      <Suffix/>
      <WegfallVar/>
      <MussFeld>False</MussFeld>
      <InDokument>True</InDokument>
      <Sektion>Bosch_footer_2</Sektion>
      <Reihenfolge>0</Reihenfolge>
    </Variable>
  </Variablen>
</saxML>
</file>

<file path=customXml/item2.xml><?xml version="1.0" encoding="utf-8"?>
<sax_Colors>
  <Line size="7">
    <Color val="9e2896" tooltip="Bosch Purple 40"/>
    <Color val="551151" tooltip="Bosch Purple 20"/>
  </Line>
  <Line size="7">
    <Color val="007bc0" tooltip="Bosch Blue 50"/>
    <Color val="004975" tooltip="Bosch Blue 30"/>
  </Line>
  <Line size="7">
    <Color val="18837e" tooltip="Bosch Turquoise 50"/>
    <Color val="0a4f4b" tooltip="Bosch Turquoise 30"/>
  </Line>
  <Line size="7">
    <Color val="00884a" tooltip="Bosch Green 50"/>
    <Color val="00512a" tooltip="Bosch Green 30"/>
  </Line>
</sax_Colors>
</file>

<file path=customXml/itemProps1.xml><?xml version="1.0" encoding="utf-8"?>
<ds:datastoreItem xmlns:ds="http://schemas.openxmlformats.org/officeDocument/2006/customXml" ds:itemID="{304CF217-3C90-4AA0-B541-CE45F9BD305E}">
  <ds:schemaRefs/>
</ds:datastoreItem>
</file>

<file path=customXml/itemProps2.xml><?xml version="1.0" encoding="utf-8"?>
<ds:datastoreItem xmlns:ds="http://schemas.openxmlformats.org/officeDocument/2006/customXml" ds:itemID="{D0252559-44F8-474C-B66D-E357B88E32C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presentation_169_1</Template>
  <Application>Microsoft Office PowerPoint</Application>
  <PresentationFormat>Custom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Bosch 2024</vt:lpstr>
      <vt:lpstr>Request of Proposal of SW PRODUCT MAIN ROBOTICS PROCESSING AND COMMUNICATIONS UNIT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CPU, memory, disk tracking for each interface</vt:lpstr>
      <vt:lpstr>Heartbeat monitoring</vt:lpstr>
      <vt:lpstr>Battery, temperature and speed monitoring</vt:lpstr>
      <vt:lpstr>PowerPoint Presentation</vt:lpstr>
      <vt:lpstr>Logs with timestamp</vt:lpstr>
      <vt:lpstr>PowerPoint Presentation</vt:lpstr>
    </vt:vector>
  </TitlesOfParts>
  <Company>Bosch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Swathi Dhurai (MS/EHM-BST-TS)</dc:creator>
  <cp:revision>2</cp:revision>
  <dcterms:created xsi:type="dcterms:W3CDTF">2025-11-28T04:31:04Z</dcterms:created>
  <dcterms:modified xsi:type="dcterms:W3CDTF">2025-12-02T07:12:02Z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ttachmentremark">
    <vt:lpwstr>$attachmentremark$</vt:lpwstr>
  </property>
  <property fmtid="{D5CDD505-2E9C-101B-9397-08002B2CF9AE}" pid="3" name="classification">
    <vt:lpwstr>$tr_sc_internal$</vt:lpwstr>
  </property>
  <property fmtid="{D5CDD505-2E9C-101B-9397-08002B2CF9AE}" pid="4" name="copyright">
    <vt:lpwstr>$copyright$</vt:lpwstr>
  </property>
  <property fmtid="{D5CDD505-2E9C-101B-9397-08002B2CF9AE}" pid="5" name="dateformat">
    <vt:lpwstr>$dateformat$</vt:lpwstr>
  </property>
  <property fmtid="{D5CDD505-2E9C-101B-9397-08002B2CF9AE}" pid="6" name="businessunit">
    <vt:lpwstr>$businessunit$</vt:lpwstr>
  </property>
  <property fmtid="{D5CDD505-2E9C-101B-9397-08002B2CF9AE}" pid="7" name="repositoryremark">
    <vt:lpwstr>$repositoryremark$</vt:lpwstr>
  </property>
</Properties>
</file>